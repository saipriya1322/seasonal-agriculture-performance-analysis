
<file path=[Content_Types].xml><?xml version="1.0" encoding="utf-8"?>
<Types xmlns="http://schemas.openxmlformats.org/package/2006/content-types">
  <Default Extension="jfif" ContentType="image/jpeg"/>
  <Default Extension="png" ContentType="image/png"/>
  <Default Extension="bin" ContentType="application/vnd.openxmlformats-officedocument.oleObject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1" r:id="rId15"/>
    <p:sldId id="342" r:id="rId16"/>
    <p:sldId id="34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19AE38-882F-1515-E21D-2DA2765CE3A3}" v="2" dt="2026-09-02T10:33:37.143"/>
    <p1510:client id="{BA573E70-4CE7-E3DA-403D-1D1B358A6CED}" v="45" dt="2026-09-02T10:11:53.372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7" d="100"/>
          <a:sy n="87" d="100"/>
        </p:scale>
        <p:origin x="432" y="58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9/12/2026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9/12/2026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9/12/2026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slideLayout" Target="../slideLayouts/slideLayout19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11.emf"/><Relationship Id="rId4" Type="http://schemas.openxmlformats.org/officeDocument/2006/relationships/oleObject" Target="../embeddings/oleObject1.bin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59279" y="3583915"/>
            <a:ext cx="9478735" cy="930936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sz="2000" b="0" dirty="0">
                <a:solidFill>
                  <a:schemeClr val="tx1"/>
                </a:solidFill>
              </a:rPr>
              <a:t>Student Name: </a:t>
            </a:r>
            <a:r>
              <a:rPr lang="en-IN" b="0" dirty="0" err="1" smtClean="0">
                <a:solidFill>
                  <a:schemeClr val="tx1"/>
                </a:solidFill>
              </a:rPr>
              <a:t>Peraka</a:t>
            </a:r>
            <a:r>
              <a:rPr lang="en-IN" b="0" dirty="0" smtClean="0">
                <a:solidFill>
                  <a:schemeClr val="tx1"/>
                </a:solidFill>
              </a:rPr>
              <a:t> Sai </a:t>
            </a:r>
            <a:r>
              <a:rPr lang="en-IN" b="0" dirty="0" err="1" smtClean="0">
                <a:solidFill>
                  <a:schemeClr val="tx1"/>
                </a:solidFill>
              </a:rPr>
              <a:t>Priya</a:t>
            </a:r>
            <a:r>
              <a:rPr sz="2000" b="0" dirty="0">
                <a:solidFill>
                  <a:schemeClr val="tx1"/>
                </a:solidFill>
              </a:rPr>
              <a:t>
College Name: </a:t>
            </a:r>
            <a:r>
              <a:rPr lang="en-IN" sz="2000" b="0" dirty="0" err="1" smtClean="0">
                <a:solidFill>
                  <a:schemeClr val="tx1"/>
                </a:solidFill>
              </a:rPr>
              <a:t>Malla</a:t>
            </a:r>
            <a:r>
              <a:rPr lang="en-IN" sz="2000" b="0" dirty="0" smtClean="0">
                <a:solidFill>
                  <a:schemeClr val="tx1"/>
                </a:solidFill>
              </a:rPr>
              <a:t> Reddy Institute of Engineering  and Technology</a:t>
            </a:r>
            <a:endParaRPr lang="en-IN" b="0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364" y="2844750"/>
            <a:ext cx="9559650" cy="608106"/>
          </a:xfrm>
        </p:spPr>
        <p:txBody>
          <a:bodyPr>
            <a:normAutofit/>
          </a:bodyPr>
          <a:lstStyle/>
          <a:p>
            <a:pPr algn="l"/>
            <a:r>
              <a:rPr sz="2200" b="1" dirty="0"/>
              <a:t>Project Title </a:t>
            </a:r>
            <a:r>
              <a:rPr sz="2200" b="1" dirty="0" smtClean="0"/>
              <a:t>-</a:t>
            </a:r>
            <a:r>
              <a:rPr lang="en-IN" sz="2200" b="1" dirty="0" smtClean="0"/>
              <a:t> </a:t>
            </a:r>
            <a:r>
              <a:rPr sz="2200" b="1" dirty="0" smtClean="0"/>
              <a:t>Seasonal </a:t>
            </a:r>
            <a:r>
              <a:rPr sz="2200" b="1" dirty="0"/>
              <a:t>Agriculture Performance Analysis</a:t>
            </a:r>
            <a:endParaRPr lang="en-IN" sz="32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759279" y="4576469"/>
            <a:ext cx="66620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sz="1800" b="0" dirty="0"/>
              <a:t>AICTE STU ID</a:t>
            </a:r>
            <a:r>
              <a:rPr sz="1800" b="0" dirty="0" smtClean="0"/>
              <a:t>:</a:t>
            </a:r>
            <a:r>
              <a:rPr lang="en-IN" sz="1800" b="0" dirty="0" smtClean="0"/>
              <a:t> STU672e197053d5d1731074416</a:t>
            </a:r>
            <a:endParaRPr sz="1800" b="0" dirty="0"/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54603" y="2098222"/>
            <a:ext cx="6305620" cy="3233057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just">
              <a:lnSpc>
                <a:spcPct val="100000"/>
              </a:lnSpc>
            </a:pPr>
            <a:r>
              <a:rPr sz="1700" b="0" dirty="0"/>
              <a:t>Agricultural performance is influenced by seasonal variations in environmental conditions, farming practices, resource availability and market conditions</a:t>
            </a:r>
            <a:r>
              <a:rPr sz="1700" b="0" dirty="0" smtClean="0"/>
              <a:t>.</a:t>
            </a:r>
            <a:r>
              <a:rPr sz="1700" b="0" dirty="0"/>
              <a:t>
The project analyzes the given agricultural dataset to identify seasonal differences, meaningful patterns, trends, relationships and variations in agricultural performance</a:t>
            </a:r>
            <a:r>
              <a:rPr sz="1700" b="0" dirty="0" smtClean="0"/>
              <a:t>.</a:t>
            </a:r>
            <a:r>
              <a:rPr sz="1700" b="0" dirty="0"/>
              <a:t>
The analysis focuses on yield, production, resource usage, environmental conditions, profitability, water efficiency and disease/pest risk.</a:t>
            </a:r>
            <a:endParaRPr lang="en-IN" sz="28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830997"/>
          </a:xfrm>
        </p:spPr>
        <p:txBody>
          <a:bodyPr>
            <a:normAutofit/>
          </a:bodyPr>
          <a:lstStyle/>
          <a:p>
            <a:pPr algn="l"/>
            <a:r>
              <a:rPr sz="2200" b="1" dirty="0"/>
              <a:t>Project Description
Seasonal Agriculture Performance Analysis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5957" y="2049236"/>
            <a:ext cx="6260551" cy="31188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spcAft>
                <a:spcPts val="800"/>
              </a:spcAft>
              <a:buFont typeface="Arial" panose="020B0604020202020204" pitchFamily="34" charset="0"/>
              <a:buChar char="•"/>
              <a:defRPr sz="1700"/>
            </a:pPr>
            <a:r>
              <a:rPr dirty="0"/>
              <a:t>Dataset size: 4,000 records × 28 </a:t>
            </a:r>
            <a:r>
              <a:rPr dirty="0" smtClean="0"/>
              <a:t>variables.</a:t>
            </a:r>
            <a:endParaRPr lang="en-IN" dirty="0" smtClean="0"/>
          </a:p>
          <a:p>
            <a:pPr marL="285750" indent="-285750" algn="just">
              <a:spcAft>
                <a:spcPts val="800"/>
              </a:spcAft>
              <a:buFont typeface="Arial" panose="020B0604020202020204" pitchFamily="34" charset="0"/>
              <a:buChar char="•"/>
              <a:defRPr sz="1700"/>
            </a:pPr>
            <a:r>
              <a:rPr dirty="0" smtClean="0"/>
              <a:t>Data </a:t>
            </a:r>
            <a:r>
              <a:rPr dirty="0"/>
              <a:t>covers farms, locations, crops and </a:t>
            </a:r>
            <a:r>
              <a:rPr dirty="0" err="1"/>
              <a:t>Kharif</a:t>
            </a:r>
            <a:r>
              <a:rPr dirty="0"/>
              <a:t>, Rabi and Zaid </a:t>
            </a:r>
            <a:r>
              <a:rPr dirty="0" smtClean="0"/>
              <a:t>seasons.</a:t>
            </a:r>
            <a:endParaRPr lang="en-IN" dirty="0" smtClean="0"/>
          </a:p>
          <a:p>
            <a:pPr marL="285750" indent="-285750" algn="just">
              <a:spcAft>
                <a:spcPts val="800"/>
              </a:spcAft>
              <a:buFont typeface="Arial" panose="020B0604020202020204" pitchFamily="34" charset="0"/>
              <a:buChar char="•"/>
              <a:defRPr sz="1700"/>
            </a:pPr>
            <a:r>
              <a:rPr dirty="0" smtClean="0"/>
              <a:t>Data </a:t>
            </a:r>
            <a:r>
              <a:rPr dirty="0"/>
              <a:t>preparation included missing-value and duplicate checks and categorical </a:t>
            </a:r>
            <a:r>
              <a:rPr dirty="0" smtClean="0"/>
              <a:t>cleaning.</a:t>
            </a:r>
            <a:endParaRPr lang="en-IN" dirty="0" smtClean="0"/>
          </a:p>
          <a:p>
            <a:pPr marL="285750" indent="-285750" algn="just">
              <a:spcAft>
                <a:spcPts val="800"/>
              </a:spcAft>
              <a:buFont typeface="Arial" panose="020B0604020202020204" pitchFamily="34" charset="0"/>
              <a:buChar char="•"/>
              <a:defRPr sz="1700"/>
            </a:pPr>
            <a:r>
              <a:rPr dirty="0" smtClean="0"/>
              <a:t>Exploratory </a:t>
            </a:r>
            <a:r>
              <a:rPr dirty="0"/>
              <a:t>analysis compared yield, production, profit, rainfall, soil/resource usage, water efficiency and disease/pest </a:t>
            </a:r>
            <a:r>
              <a:rPr dirty="0" smtClean="0"/>
              <a:t>risk.</a:t>
            </a:r>
            <a:endParaRPr lang="en-IN" dirty="0" smtClean="0"/>
          </a:p>
          <a:p>
            <a:pPr marL="285750" indent="-285750" algn="just">
              <a:spcAft>
                <a:spcPts val="800"/>
              </a:spcAft>
              <a:buFont typeface="Arial" panose="020B0604020202020204" pitchFamily="34" charset="0"/>
              <a:buChar char="•"/>
              <a:defRPr sz="1700"/>
            </a:pPr>
            <a:r>
              <a:rPr dirty="0" smtClean="0"/>
              <a:t>Correlation </a:t>
            </a:r>
            <a:r>
              <a:rPr dirty="0"/>
              <a:t>analysis and one-way ANOVA were used to investigate relationships and seasonal differences.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pPr algn="l"/>
            <a:r>
              <a:rPr sz="2400" b="1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  <p:sp>
        <p:nvSpPr>
          <p:cNvPr id="9" name="Text Placeholder 8"/>
          <p:cNvSpPr txBox="1">
            <a:spLocks noGrp="1"/>
          </p:cNvSpPr>
          <p:nvPr>
            <p:ph type="body" sz="quarter" idx="12"/>
          </p:nvPr>
        </p:nvSpPr>
        <p:spPr>
          <a:xfrm>
            <a:off x="620713" y="2081213"/>
            <a:ext cx="6369172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1900"/>
            </a:pPr>
            <a:r>
              <a:rPr sz="1700" dirty="0" smtClean="0"/>
              <a:t>Farmers – understand seasonal productivity and resource requirements.</a:t>
            </a:r>
          </a:p>
          <a:p>
            <a:pPr algn="just">
              <a:spcAft>
                <a:spcPts val="800"/>
              </a:spcAft>
              <a:defRPr sz="1900"/>
            </a:pPr>
            <a:r>
              <a:rPr sz="1700" dirty="0" smtClean="0"/>
              <a:t>Agricultural planners – support evidence-based seasonal planning.</a:t>
            </a:r>
          </a:p>
          <a:p>
            <a:pPr algn="just">
              <a:spcAft>
                <a:spcPts val="800"/>
              </a:spcAft>
              <a:defRPr sz="1900"/>
            </a:pPr>
            <a:r>
              <a:rPr sz="1700" dirty="0" smtClean="0"/>
              <a:t>Agricultural researchers – identify patterns and areas for further study.</a:t>
            </a:r>
          </a:p>
          <a:p>
            <a:pPr algn="just">
              <a:spcAft>
                <a:spcPts val="800"/>
              </a:spcAft>
              <a:defRPr sz="1900"/>
            </a:pPr>
            <a:r>
              <a:rPr sz="1700" dirty="0" smtClean="0"/>
              <a:t>Policy makers – understand regional and seasonal agricultural performance.</a:t>
            </a:r>
          </a:p>
          <a:p>
            <a:pPr algn="just">
              <a:spcAft>
                <a:spcPts val="800"/>
              </a:spcAft>
              <a:defRPr sz="1900"/>
            </a:pPr>
            <a:r>
              <a:rPr sz="1700" dirty="0" smtClean="0"/>
              <a:t>Data analysts – use the dataset for further agricultural analytics.</a:t>
            </a:r>
            <a:endParaRPr sz="1700" dirty="0"/>
          </a:p>
        </p:txBody>
      </p:sp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pPr algn="l"/>
            <a:r>
              <a:rPr sz="2400" b="1" dirty="0"/>
              <a:t>Technology Used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400" y="1278384"/>
            <a:ext cx="6458858" cy="253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/>
            </a:pPr>
            <a:r>
              <a:rPr sz="1700" dirty="0"/>
              <a:t>Google </a:t>
            </a:r>
            <a:r>
              <a:rPr sz="1700" dirty="0" err="1"/>
              <a:t>Colab</a:t>
            </a:r>
            <a:r>
              <a:rPr sz="1700" dirty="0"/>
              <a:t> / </a:t>
            </a:r>
            <a:r>
              <a:rPr sz="1700" dirty="0" err="1"/>
              <a:t>Jupyter</a:t>
            </a:r>
            <a:r>
              <a:rPr sz="1700" dirty="0"/>
              <a:t> </a:t>
            </a:r>
            <a:r>
              <a:rPr sz="1700" dirty="0" smtClean="0"/>
              <a:t>Notebook</a:t>
            </a:r>
            <a:endParaRPr lang="en-IN" sz="1700" dirty="0" smtClean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/>
            </a:pPr>
            <a:r>
              <a:rPr sz="1700" dirty="0" smtClean="0"/>
              <a:t>Python</a:t>
            </a:r>
            <a:endParaRPr lang="en-IN" sz="1700" dirty="0" smtClean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/>
            </a:pPr>
            <a:r>
              <a:rPr sz="1700" dirty="0" smtClean="0"/>
              <a:t>Pandas </a:t>
            </a:r>
            <a:r>
              <a:rPr sz="1700" dirty="0"/>
              <a:t>– data loading, cleaning and </a:t>
            </a:r>
            <a:r>
              <a:rPr sz="1700" dirty="0" smtClean="0"/>
              <a:t>aggregation</a:t>
            </a:r>
            <a:endParaRPr lang="en-IN" sz="1700" dirty="0" smtClean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/>
            </a:pPr>
            <a:r>
              <a:rPr sz="1700" dirty="0" err="1" smtClean="0"/>
              <a:t>NumPy</a:t>
            </a:r>
            <a:r>
              <a:rPr sz="1700" dirty="0" smtClean="0"/>
              <a:t> </a:t>
            </a:r>
            <a:r>
              <a:rPr sz="1700" dirty="0"/>
              <a:t>– numerical </a:t>
            </a:r>
            <a:r>
              <a:rPr sz="1700" dirty="0" smtClean="0"/>
              <a:t>operations</a:t>
            </a:r>
            <a:endParaRPr lang="en-IN" sz="1700" dirty="0" smtClean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/>
            </a:pPr>
            <a:r>
              <a:rPr sz="1700" dirty="0" err="1" smtClean="0"/>
              <a:t>Matplotlib</a:t>
            </a:r>
            <a:r>
              <a:rPr sz="1700" dirty="0" smtClean="0"/>
              <a:t> </a:t>
            </a:r>
            <a:r>
              <a:rPr sz="1700" dirty="0"/>
              <a:t>&amp; </a:t>
            </a:r>
            <a:r>
              <a:rPr sz="1700" dirty="0" err="1"/>
              <a:t>Seaborn</a:t>
            </a:r>
            <a:r>
              <a:rPr sz="1700" dirty="0"/>
              <a:t> – data </a:t>
            </a:r>
            <a:r>
              <a:rPr sz="1700" dirty="0" smtClean="0"/>
              <a:t>visualization</a:t>
            </a:r>
            <a:endParaRPr lang="en-IN" sz="1700" dirty="0" smtClean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/>
            </a:pPr>
            <a:r>
              <a:rPr sz="1700" dirty="0" err="1" smtClean="0"/>
              <a:t>SciPy</a:t>
            </a:r>
            <a:r>
              <a:rPr sz="1700" dirty="0" smtClean="0"/>
              <a:t> </a:t>
            </a:r>
            <a:r>
              <a:rPr sz="1700" dirty="0"/>
              <a:t>– statistical testing (</a:t>
            </a:r>
            <a:r>
              <a:rPr sz="1700" dirty="0" smtClean="0"/>
              <a:t>ANOVA)</a:t>
            </a:r>
            <a:endParaRPr lang="en-IN" sz="1700" dirty="0" smtClean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/>
            </a:pPr>
            <a:r>
              <a:rPr sz="1700" dirty="0" smtClean="0"/>
              <a:t>CSV </a:t>
            </a:r>
            <a:r>
              <a:rPr sz="1700" dirty="0"/>
              <a:t>dataset – Seasonal Agriculture Performance Dataset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90"/>
            <a:ext cx="6428228" cy="693280"/>
          </a:xfrm>
        </p:spPr>
        <p:txBody>
          <a:bodyPr>
            <a:normAutofit/>
          </a:bodyPr>
          <a:lstStyle/>
          <a:p>
            <a:pPr algn="l"/>
            <a:r>
              <a:rPr sz="2300" b="1" dirty="0"/>
              <a:t>RESULTS – SEASONAL YIELD</a:t>
            </a:r>
            <a:endParaRPr lang="en-IN" dirty="0"/>
          </a:p>
        </p:txBody>
      </p:sp>
      <p:pic>
        <p:nvPicPr>
          <p:cNvPr id="24" name="Picture 23" descr="yield_by_sea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417320"/>
            <a:ext cx="5029200" cy="283095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04208" y="4335235"/>
            <a:ext cx="6245678" cy="14003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700" b="0" dirty="0" err="1"/>
              <a:t>Kharif</a:t>
            </a:r>
            <a:r>
              <a:rPr sz="1700" b="0" dirty="0"/>
              <a:t> recorded the highest average yield: 5.64 </a:t>
            </a:r>
            <a:r>
              <a:rPr sz="1700" b="0" dirty="0" err="1" smtClean="0"/>
              <a:t>tonnes</a:t>
            </a:r>
            <a:r>
              <a:rPr sz="1700" b="0" dirty="0" smtClean="0"/>
              <a:t>/ha.</a:t>
            </a:r>
            <a:endParaRPr lang="en-IN" sz="1700" b="0" dirty="0" smtClean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700" b="0" dirty="0" smtClean="0"/>
              <a:t>Rabi </a:t>
            </a:r>
            <a:r>
              <a:rPr sz="1700" b="0" dirty="0"/>
              <a:t>average yield: 5.08 </a:t>
            </a:r>
            <a:r>
              <a:rPr sz="1700" b="0" dirty="0" err="1" smtClean="0"/>
              <a:t>tonnes</a:t>
            </a:r>
            <a:r>
              <a:rPr sz="1700" b="0" dirty="0" smtClean="0"/>
              <a:t>/ha.</a:t>
            </a:r>
            <a:endParaRPr lang="en-IN" sz="1700" b="0" dirty="0" smtClean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700" b="0" dirty="0" smtClean="0"/>
              <a:t>Zaid </a:t>
            </a:r>
            <a:r>
              <a:rPr sz="1700" b="0" dirty="0"/>
              <a:t>average yield: 4.67 </a:t>
            </a:r>
            <a:r>
              <a:rPr sz="1700" b="0" dirty="0" err="1" smtClean="0"/>
              <a:t>tonnes</a:t>
            </a:r>
            <a:r>
              <a:rPr sz="1700" b="0" dirty="0" smtClean="0"/>
              <a:t>/ha.</a:t>
            </a:r>
            <a:endParaRPr lang="en-IN" sz="1700" b="0" dirty="0" smtClean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700" b="0" dirty="0" smtClean="0"/>
              <a:t>The </a:t>
            </a:r>
            <a:r>
              <a:rPr sz="1700" b="0" dirty="0"/>
              <a:t>chart shows clear differences in sample averages across seasons.</a:t>
            </a:r>
          </a:p>
        </p:txBody>
      </p:sp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90"/>
            <a:ext cx="5760012" cy="798970"/>
          </a:xfrm>
        </p:spPr>
        <p:txBody>
          <a:bodyPr>
            <a:normAutofit/>
          </a:bodyPr>
          <a:lstStyle/>
          <a:p>
            <a:pPr algn="l"/>
            <a:r>
              <a:rPr sz="2300" b="1" dirty="0"/>
              <a:t>RESULTS – ECONOMIC PERFORMANCE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A64DB11-806F-1A4C-E0D5-D745D29CED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pic>
        <p:nvPicPr>
          <p:cNvPr id="31" name="Picture 30" descr="profit_by_sea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25880"/>
            <a:ext cx="5120640" cy="288010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45030" y="4311794"/>
            <a:ext cx="6335484" cy="1323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600" b="0" dirty="0" err="1"/>
              <a:t>Kharif</a:t>
            </a:r>
            <a:r>
              <a:rPr sz="1600" b="0" dirty="0"/>
              <a:t> average profit: ₹</a:t>
            </a:r>
            <a:r>
              <a:rPr sz="1600" b="0" dirty="0" smtClean="0"/>
              <a:t>178,914.65</a:t>
            </a:r>
            <a:endParaRPr lang="en-IN" sz="1600" b="0" dirty="0" smtClean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600" b="0" dirty="0" smtClean="0"/>
              <a:t>Rabi </a:t>
            </a:r>
            <a:r>
              <a:rPr sz="1600" b="0" dirty="0"/>
              <a:t>average profit: ₹</a:t>
            </a:r>
            <a:r>
              <a:rPr sz="1600" b="0" dirty="0" smtClean="0"/>
              <a:t>87,689.47</a:t>
            </a:r>
            <a:endParaRPr lang="en-IN" sz="1600" b="0" dirty="0" smtClean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600" b="0" dirty="0" smtClean="0"/>
              <a:t>Zaid </a:t>
            </a:r>
            <a:r>
              <a:rPr sz="1600" b="0" dirty="0"/>
              <a:t>average profit: ₹-</a:t>
            </a:r>
            <a:r>
              <a:rPr sz="1600" b="0" dirty="0" smtClean="0"/>
              <a:t>24,804.82</a:t>
            </a:r>
            <a:endParaRPr lang="en-IN" sz="1600" b="0" dirty="0" smtClean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600" b="0" dirty="0" err="1" smtClean="0"/>
              <a:t>Kharif</a:t>
            </a:r>
            <a:r>
              <a:rPr sz="1600" b="0" dirty="0" smtClean="0"/>
              <a:t> </a:t>
            </a:r>
            <a:r>
              <a:rPr sz="1600" b="0" dirty="0"/>
              <a:t>had the highest average profit, while Zaid had a negative average profit in this dataset.</a:t>
            </a:r>
          </a:p>
        </p:txBody>
      </p:sp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863197" cy="772411"/>
          </a:xfrm>
        </p:spPr>
        <p:txBody>
          <a:bodyPr>
            <a:normAutofit/>
          </a:bodyPr>
          <a:lstStyle/>
          <a:p>
            <a:pPr algn="l"/>
            <a:r>
              <a:rPr sz="2300" b="1" dirty="0"/>
              <a:t>RESULTS – WATER &amp; RISK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E3B1C7-6A8B-23EE-6251-DC1067C6ADE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pic>
        <p:nvPicPr>
          <p:cNvPr id="31" name="Picture 30" descr="water_effici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5120640" cy="288242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07164" y="4376057"/>
            <a:ext cx="6263107" cy="107721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600" b="0" dirty="0"/>
              <a:t>Highest water efficiency: </a:t>
            </a:r>
            <a:r>
              <a:rPr sz="1600" b="0" dirty="0" err="1"/>
              <a:t>Kharif</a:t>
            </a:r>
            <a:r>
              <a:rPr sz="1600" b="0" dirty="0"/>
              <a:t> (5.89 </a:t>
            </a:r>
            <a:r>
              <a:rPr sz="1600" b="0" dirty="0" err="1"/>
              <a:t>tonnes</a:t>
            </a:r>
            <a:r>
              <a:rPr sz="1600" b="0" dirty="0"/>
              <a:t>/1000 m³</a:t>
            </a:r>
            <a:r>
              <a:rPr sz="1600" b="0" dirty="0" smtClean="0"/>
              <a:t>).</a:t>
            </a:r>
            <a:endParaRPr lang="en-IN" sz="1600" b="0" dirty="0" smtClean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600" b="0" dirty="0" smtClean="0"/>
              <a:t>Lowest </a:t>
            </a:r>
            <a:r>
              <a:rPr sz="1600" b="0" dirty="0"/>
              <a:t>disease/pest risk: Zaid (38.22</a:t>
            </a:r>
            <a:r>
              <a:rPr sz="1600" b="0" dirty="0" smtClean="0"/>
              <a:t>%).</a:t>
            </a:r>
            <a:endParaRPr lang="en-IN" sz="1600" b="0" dirty="0" smtClean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600" b="0" dirty="0" err="1" smtClean="0"/>
              <a:t>Kharif</a:t>
            </a:r>
            <a:r>
              <a:rPr sz="1600" b="0" dirty="0" smtClean="0"/>
              <a:t> </a:t>
            </a:r>
            <a:r>
              <a:rPr sz="1600" b="0" dirty="0"/>
              <a:t>used 6102.20 m³ of water on average; Zaid used 6419.89 m³.</a:t>
            </a:r>
          </a:p>
        </p:txBody>
      </p:sp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6" y="370589"/>
            <a:ext cx="8353743" cy="1061102"/>
          </a:xfrm>
        </p:spPr>
        <p:txBody>
          <a:bodyPr>
            <a:normAutofit/>
          </a:bodyPr>
          <a:lstStyle/>
          <a:p>
            <a:pPr algn="l"/>
            <a:r>
              <a:rPr sz="2300" b="1" dirty="0"/>
              <a:t>RESULTS – ENVIRONMENTAL RELATIONSHIP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B7B89A1-9444-8322-CADC-42D31D698F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pic>
        <p:nvPicPr>
          <p:cNvPr id="31" name="Picture 30" descr="rainfall_vs_y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79" y="1431692"/>
            <a:ext cx="5451441" cy="290291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28700" y="4440115"/>
            <a:ext cx="6017079" cy="14003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700" b="0" dirty="0"/>
              <a:t>Rainfall–yield correlation: </a:t>
            </a:r>
            <a:r>
              <a:rPr sz="1700" b="0" dirty="0" smtClean="0"/>
              <a:t>0.031.</a:t>
            </a:r>
            <a:endParaRPr lang="en-IN" sz="1700" b="0" dirty="0" smtClean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700" b="0" dirty="0" smtClean="0"/>
              <a:t>This </a:t>
            </a:r>
            <a:r>
              <a:rPr sz="1700" b="0" dirty="0"/>
              <a:t>indicates a very weak linear association in the full </a:t>
            </a:r>
            <a:r>
              <a:rPr sz="1700" b="0" dirty="0" smtClean="0"/>
              <a:t>dataset.</a:t>
            </a:r>
            <a:endParaRPr lang="en-IN" sz="1700" b="0" dirty="0" smtClean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700" b="0" dirty="0" smtClean="0"/>
              <a:t>Other </a:t>
            </a:r>
            <a:r>
              <a:rPr sz="1700" b="0" dirty="0"/>
              <a:t>environmental and resource variables were also examined using correlation analysis.</a:t>
            </a:r>
          </a:p>
        </p:txBody>
      </p:sp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90"/>
            <a:ext cx="5935858" cy="662934"/>
          </a:xfrm>
        </p:spPr>
        <p:txBody>
          <a:bodyPr>
            <a:normAutofit/>
          </a:bodyPr>
          <a:lstStyle/>
          <a:p>
            <a:pPr algn="l"/>
            <a:r>
              <a:rPr sz="2300" b="1" dirty="0"/>
              <a:t>RESULTS – STATISTICAL ANALYSIS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85C769B-425A-FE3B-E47A-3B747985DC5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pic>
        <p:nvPicPr>
          <p:cNvPr id="31" name="Picture 30" descr="top_cr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280160"/>
            <a:ext cx="5212080" cy="293389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73580" y="4365590"/>
            <a:ext cx="6441620" cy="1708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/>
              <a:t>One-way ANOVA for yield across </a:t>
            </a:r>
            <a:r>
              <a:rPr sz="1500" b="0" dirty="0" smtClean="0"/>
              <a:t>seasons:</a:t>
            </a:r>
            <a:endParaRPr lang="en-IN" sz="1500" b="0" dirty="0" smtClean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 smtClean="0"/>
              <a:t>F-statistic </a:t>
            </a:r>
            <a:r>
              <a:rPr sz="1500" b="0" dirty="0"/>
              <a:t>= </a:t>
            </a:r>
            <a:r>
              <a:rPr sz="1500" b="0" dirty="0" smtClean="0"/>
              <a:t>1.458</a:t>
            </a:r>
            <a:endParaRPr lang="en-IN" sz="1500" b="0" dirty="0" smtClean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 smtClean="0"/>
              <a:t>P-value </a:t>
            </a:r>
            <a:r>
              <a:rPr sz="1500" b="0" dirty="0"/>
              <a:t>= </a:t>
            </a:r>
            <a:r>
              <a:rPr sz="1500" b="0" dirty="0" smtClean="0"/>
              <a:t>0.2328</a:t>
            </a:r>
            <a:endParaRPr lang="en-IN" sz="1500" b="0" dirty="0" smtClean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 smtClean="0"/>
              <a:t>At </a:t>
            </a:r>
            <a:r>
              <a:rPr sz="1500" b="0" dirty="0"/>
              <a:t>α = 0.05, the p-value is greater than 0.05. Therefore, the observed seasonal differences in average yield are not statistically significant at the 5% </a:t>
            </a:r>
            <a:r>
              <a:rPr sz="1500" b="0" dirty="0" smtClean="0"/>
              <a:t>level.</a:t>
            </a:r>
            <a:endParaRPr lang="en-IN" sz="1500" b="0" dirty="0" smtClean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 smtClean="0"/>
              <a:t>Top </a:t>
            </a:r>
            <a:r>
              <a:rPr sz="1500" b="0" dirty="0"/>
              <a:t>average-yield crop in the dataset: Sugarcane (46.94 </a:t>
            </a:r>
            <a:r>
              <a:rPr sz="1500" b="0" dirty="0" err="1"/>
              <a:t>tonnes</a:t>
            </a:r>
            <a:r>
              <a:rPr sz="1500" b="0" dirty="0"/>
              <a:t>/ha).</a:t>
            </a:r>
          </a:p>
        </p:txBody>
      </p:sp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pPr algn="l"/>
            <a:r>
              <a:rPr sz="2400" b="1"/>
              <a:t>Future Scope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4" name="TextBox 23"/>
          <p:cNvSpPr txBox="1"/>
          <p:nvPr/>
        </p:nvSpPr>
        <p:spPr>
          <a:xfrm>
            <a:off x="675956" y="2015234"/>
            <a:ext cx="5883105" cy="3483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spcAft>
                <a:spcPts val="800"/>
              </a:spcAft>
              <a:buFont typeface="Arial" panose="020B0604020202020204" pitchFamily="34" charset="0"/>
              <a:buChar char="•"/>
              <a:defRPr sz="1800"/>
            </a:pPr>
            <a:r>
              <a:rPr sz="1700" dirty="0"/>
              <a:t>Develop predictive models for crop yield and </a:t>
            </a:r>
            <a:r>
              <a:rPr sz="1700" dirty="0" smtClean="0"/>
              <a:t>profitability.</a:t>
            </a:r>
            <a:endParaRPr lang="en-IN" sz="1700" dirty="0" smtClean="0"/>
          </a:p>
          <a:p>
            <a:pPr marL="285750" indent="-285750" algn="just">
              <a:spcAft>
                <a:spcPts val="800"/>
              </a:spcAft>
              <a:buFont typeface="Arial" panose="020B0604020202020204" pitchFamily="34" charset="0"/>
              <a:buChar char="•"/>
              <a:defRPr sz="1800"/>
            </a:pPr>
            <a:r>
              <a:rPr sz="1700" dirty="0" smtClean="0"/>
              <a:t>Add time-series/weather forecasts for future seasonal planning.</a:t>
            </a:r>
            <a:endParaRPr lang="en-IN" sz="1700" dirty="0" smtClean="0"/>
          </a:p>
          <a:p>
            <a:pPr marL="285750" indent="-285750" algn="just">
              <a:spcAft>
                <a:spcPts val="800"/>
              </a:spcAft>
              <a:buFont typeface="Arial" panose="020B0604020202020204" pitchFamily="34" charset="0"/>
              <a:buChar char="•"/>
              <a:defRPr sz="1800"/>
            </a:pPr>
            <a:r>
              <a:rPr sz="1700" dirty="0" smtClean="0"/>
              <a:t>Build an interactive dashboard using </a:t>
            </a:r>
            <a:r>
              <a:rPr sz="1700" dirty="0" err="1" smtClean="0"/>
              <a:t>Streamlit</a:t>
            </a:r>
            <a:r>
              <a:rPr sz="1700" dirty="0" smtClean="0"/>
              <a:t> or Power BI.</a:t>
            </a:r>
            <a:endParaRPr lang="en-IN" sz="1700" dirty="0" smtClean="0"/>
          </a:p>
          <a:p>
            <a:pPr marL="285750" indent="-285750" algn="just">
              <a:spcAft>
                <a:spcPts val="800"/>
              </a:spcAft>
              <a:buFont typeface="Arial" panose="020B0604020202020204" pitchFamily="34" charset="0"/>
              <a:buChar char="•"/>
              <a:defRPr sz="1800"/>
            </a:pPr>
            <a:r>
              <a:rPr sz="1700" dirty="0" smtClean="0"/>
              <a:t>Include more years of historical agricultural data.</a:t>
            </a:r>
            <a:endParaRPr lang="en-IN" sz="1700" dirty="0" smtClean="0"/>
          </a:p>
          <a:p>
            <a:pPr marL="285750" indent="-285750" algn="just">
              <a:spcAft>
                <a:spcPts val="800"/>
              </a:spcAft>
              <a:buFont typeface="Arial" panose="020B0604020202020204" pitchFamily="34" charset="0"/>
              <a:buChar char="•"/>
              <a:defRPr sz="1800"/>
            </a:pPr>
            <a:r>
              <a:rPr sz="1700" dirty="0" smtClean="0"/>
              <a:t>Study crop-specific and region-specific seasonal patterns in greater depth.</a:t>
            </a:r>
            <a:endParaRPr lang="en-IN" sz="1700" dirty="0" smtClean="0"/>
          </a:p>
          <a:p>
            <a:pPr marL="285750" indent="-285750" algn="just">
              <a:spcAft>
                <a:spcPts val="800"/>
              </a:spcAft>
              <a:buFont typeface="Arial" panose="020B0604020202020204" pitchFamily="34" charset="0"/>
              <a:buChar char="•"/>
              <a:defRPr sz="1800"/>
            </a:pPr>
            <a:r>
              <a:rPr sz="1700" dirty="0" smtClean="0"/>
              <a:t>Investigate causal factors and test recommendations with field data.</a:t>
            </a:r>
            <a:endParaRPr sz="1700" dirty="0"/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pPr algn="l"/>
            <a:r>
              <a:rPr sz="2400" b="1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0B37E4-66B1-8633-7266-68B321742757}"/>
              </a:ext>
            </a:extLst>
          </p:cNvPr>
          <p:cNvSpPr txBox="1"/>
          <p:nvPr/>
        </p:nvSpPr>
        <p:spPr>
          <a:xfrm>
            <a:off x="606670" y="2127738"/>
            <a:ext cx="7355462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dirty="0"/>
              <a:t>GitHub Repository</a:t>
            </a:r>
            <a:r>
              <a:rPr sz="1700" b="0" dirty="0" smtClean="0"/>
              <a:t>:</a:t>
            </a:r>
            <a:endParaRPr lang="en-IN" sz="1700" b="0" dirty="0" smtClean="0"/>
          </a:p>
          <a:p>
            <a:r>
              <a:rPr sz="1700" b="0" dirty="0"/>
              <a:t>
</a:t>
            </a:r>
            <a:r>
              <a:rPr lang="en-IN" sz="1700" dirty="0" smtClean="0"/>
              <a:t>https</a:t>
            </a:r>
            <a:r>
              <a:rPr lang="en-IN" sz="1700" dirty="0"/>
              <a:t>://github.com/saipriya1322/Seasonal-Agriculture-Performance-Analysis.git </a:t>
            </a:r>
            <a:r>
              <a:rPr sz="1700" b="0" dirty="0"/>
              <a:t>
</a:t>
            </a:r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351388" cy="884658"/>
          </a:xfrm>
        </p:spPr>
        <p:txBody>
          <a:bodyPr>
            <a:normAutofit/>
          </a:bodyPr>
          <a:lstStyle/>
          <a:p>
            <a:pPr algn="l"/>
            <a:r>
              <a:rPr sz="2200" b="1" dirty="0"/>
              <a:t>VOIS Course Completion Certificate
Course Name – Data Visualization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57213281"/>
              </p:ext>
            </p:extLst>
          </p:nvPr>
        </p:nvGraphicFramePr>
        <p:xfrm>
          <a:off x="747347" y="1463521"/>
          <a:ext cx="9442938" cy="63250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" name="Acrobat Document" r:id="rId4" imgW="8019926" imgH="5666970" progId="Acrobat.Document.11">
                  <p:embed/>
                </p:oleObj>
              </mc:Choice>
              <mc:Fallback>
                <p:oleObj name="Acrobat Document" r:id="rId4" imgW="8019926" imgH="5666970" progId="Acrobat.Document.1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47347" y="1463521"/>
                        <a:ext cx="9442938" cy="632500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4221" y="2251558"/>
            <a:ext cx="2449286" cy="2671506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/>
            <a:r>
              <a:rPr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8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7" grpId="0"/>
      <p:bldP spid="20" grpId="0"/>
      <p:bldP spid="23" grpId="0"/>
      <p:bldP spid="30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DEA9014-ED64-4558-B1E1-D03F0EE32BEB}">
  <ds:schemaRefs>
    <ds:schemaRef ds:uri="http://schemas.microsoft.com/office/2006/documentManagement/types"/>
    <ds:schemaRef ds:uri="http://www.w3.org/XML/1998/namespace"/>
    <ds:schemaRef ds:uri="http://purl.org/dc/terms/"/>
    <ds:schemaRef ds:uri="http://purl.org/dc/dcmitype/"/>
    <ds:schemaRef ds:uri="71af3243-3dd4-4a8d-8c0d-dd76da1f02a5"/>
    <ds:schemaRef ds:uri="http://schemas.microsoft.com/office/infopath/2007/PartnerControls"/>
    <ds:schemaRef ds:uri="http://schemas.openxmlformats.org/package/2006/metadata/core-properties"/>
    <ds:schemaRef ds:uri="16c05727-aa75-4e4a-9b5f-8a80a1165891"/>
    <ds:schemaRef ds:uri="http://schemas.microsoft.com/office/2006/metadata/properties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1437</TotalTime>
  <Words>517</Words>
  <Application>Microsoft Office PowerPoint</Application>
  <PresentationFormat>Widescreen</PresentationFormat>
  <Paragraphs>66</Paragraphs>
  <Slides>14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Trebuchet MS</vt:lpstr>
      <vt:lpstr>Wingdings</vt:lpstr>
      <vt:lpstr>Wingdings 3</vt:lpstr>
      <vt:lpstr>Facet</vt:lpstr>
      <vt:lpstr>Acrobat Document</vt:lpstr>
      <vt:lpstr>Project Title - Seasonal Agriculture Performance Analysis</vt:lpstr>
      <vt:lpstr>PROBLEM  STATEMENT</vt:lpstr>
      <vt:lpstr>Project Description
Seasonal Agriculture Performance Analysis</vt:lpstr>
      <vt:lpstr>WHO ARE THE END USERS?</vt:lpstr>
      <vt:lpstr>Technology Used</vt:lpstr>
      <vt:lpstr>RESULTS – SEASONAL YIELD</vt:lpstr>
      <vt:lpstr>RESULTS – ECONOMIC PERFORMANCE</vt:lpstr>
      <vt:lpstr>RESULTS – WATER &amp; RISK</vt:lpstr>
      <vt:lpstr>RESULTS – ENVIRONMENTAL RELATIONSHIP</vt:lpstr>
      <vt:lpstr>RESULTS – STATISTICAL ANALYSIS</vt:lpstr>
      <vt:lpstr>Future Scope</vt:lpstr>
      <vt:lpstr>GitHub Link</vt:lpstr>
      <vt:lpstr>VOIS Course Completion Certificate
Course Name – Data Visualization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KARTHIK</cp:lastModifiedBy>
  <cp:revision>110</cp:revision>
  <dcterms:created xsi:type="dcterms:W3CDTF">2021-07-11T13:13:15Z</dcterms:created>
  <dcterms:modified xsi:type="dcterms:W3CDTF">2026-09-12T07:39:03Z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